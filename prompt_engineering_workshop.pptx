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3657600"/>
            <a:ext cx="2587752" cy="32004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  <a:latin typeface="Calibri"/>
              </a:rPr>
              <a:t>WORKSHOP · 60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144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Core Concepts &amp; 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Designing prompts that are clear, reliable, and production-ready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8595360" cy="640080"/>
          </a:xfrm>
          <a:prstGeom prst="rect">
            <a:avLst/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70448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Reference: promptingguide.ai · DAIR.AI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73152" cy="6858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09928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C4B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66420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96596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6B83"/>
                </a:solidFill>
                <a:latin typeface="Calibri"/>
              </a:rPr>
              <a:t>What prompting is, why it matters, mental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77440"/>
            <a:ext cx="73152" cy="6858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87168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C4B6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44144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Anatomy &amp;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74320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6B83"/>
                </a:solidFill>
                <a:latin typeface="Calibri"/>
              </a:rPr>
              <a:t>Prompt elements, temperature, top-p, max tokens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5468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54680"/>
            <a:ext cx="73152" cy="6858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64408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C4B6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21868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Core Techniques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52044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6B83"/>
                </a:solidFill>
                <a:latin typeface="Calibri"/>
              </a:rPr>
              <a:t>Zero-shot, few-shot, chain-of-thought, self-consistency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73152" cy="6858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41648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C4B6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99592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Advanced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29768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6B83"/>
                </a:solidFill>
                <a:latin typeface="Calibri"/>
              </a:rPr>
              <a:t>Prompt chaining, ToT, ReAct, RAG, agents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0916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709160"/>
            <a:ext cx="73152" cy="6858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18888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C4B6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77316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Risks &amp; 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07492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6B83"/>
                </a:solidFill>
                <a:latin typeface="Calibri"/>
              </a:rPr>
              <a:t>Hallucination, bias, prompt injection, defenses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73152" cy="6858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96128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EC4B6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55040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Workflow &amp;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585216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6B83"/>
                </a:solidFill>
                <a:latin typeface="Calibri"/>
              </a:rPr>
              <a:t>Iteration, testing, production discipline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What is prompt engineering?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101828"/>
                </a:solidFill>
                <a:latin typeface="Calibri"/>
              </a:rPr>
              <a:t>The discipline of designing inputs that reliably steer language models toward useful, accurate outputs.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36118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3611880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32004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01828"/>
                </a:solidFill>
                <a:latin typeface="Calibri"/>
              </a:rPr>
              <a:t>Express intent precisely. Remove ambiguity. State the task, the audience, and the format.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926080"/>
            <a:ext cx="36118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926080"/>
            <a:ext cx="3611880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999232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11880"/>
            <a:ext cx="32004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01828"/>
                </a:solidFill>
                <a:latin typeface="Calibri"/>
              </a:rPr>
              <a:t>Give the model what it needs and nothing more. Include background, examples, and constraints.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926080"/>
            <a:ext cx="36118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926080"/>
            <a:ext cx="3611880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999232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11880"/>
            <a:ext cx="32004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01828"/>
                </a:solidFill>
                <a:latin typeface="Calibri"/>
              </a:rPr>
              <a:t>Use structure, settings, and patterns to make outputs predictable and verifiable.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56B83"/>
                </a:solidFill>
                <a:latin typeface="Calibri"/>
              </a:rPr>
              <a:t>Good prompts are written like good specs: specific, testable, and iterated.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3611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36118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9F1C"/>
                </a:solidFill>
                <a:latin typeface="Calibri"/>
              </a:rPr>
              <a:t>40-60%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3063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01828"/>
                </a:solidFill>
                <a:latin typeface="Calibri"/>
              </a:rPr>
              <a:t>Output accuracy lift from structured vs. ad-hoc prompts*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3611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783080"/>
            <a:ext cx="36118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9F1C"/>
                </a:solidFill>
                <a:latin typeface="Calibri"/>
              </a:rPr>
              <a:t>10x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06040"/>
            <a:ext cx="3063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01828"/>
                </a:solidFill>
                <a:latin typeface="Calibri"/>
              </a:rPr>
              <a:t>Faster iteration than fine-tuning for most use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611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783080"/>
            <a:ext cx="36118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9F1C"/>
                </a:solidFill>
                <a:latin typeface="Calibri"/>
              </a:rPr>
              <a:t>0 GPUs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3063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01828"/>
                </a:solidFill>
                <a:latin typeface="Calibri"/>
              </a:rPr>
              <a:t>No training infrastructure required to ship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What prompt engineering buys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73152" cy="2011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32461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Reduce hallucinations and off-topic answers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Stable outputs across runs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Predictable formats for downstream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25196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251960"/>
            <a:ext cx="73152" cy="2011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38912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Speed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846320"/>
            <a:ext cx="32461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Ship behavior changes in minutes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Lower cost than fine-tuning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Faster A/B between models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25196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4251960"/>
            <a:ext cx="73152" cy="2011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38912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Capability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846320"/>
            <a:ext cx="32461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Unlock reasoning and tool use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Compose simple steps into workflows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Adapt one model to many tasks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* Stanford HAI, 2025 (industry-reported range)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Mental model: how LLMs respond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01828"/>
                </a:solidFill>
                <a:latin typeface="Calibri"/>
              </a:rPr>
              <a:t>LLMs are next-token predictors conditioned on everything in the context window.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027" y="2560320"/>
            <a:ext cx="2468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8027" y="2560320"/>
            <a:ext cx="2468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027" y="2606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907" y="3154680"/>
            <a:ext cx="21031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01828"/>
                </a:solidFill>
                <a:latin typeface="Calibri"/>
              </a:rPr>
              <a:t>System + user
messages, examples,
tools, retrieved docs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65195" y="3310128"/>
            <a:ext cx="283464" cy="329184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66947" y="2560320"/>
            <a:ext cx="2468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66947" y="2560320"/>
            <a:ext cx="2468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6947" y="2606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9827" y="3154680"/>
            <a:ext cx="21031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01828"/>
                </a:solidFill>
                <a:latin typeface="Calibri"/>
              </a:rPr>
              <a:t>Pretrained weights
+ tokenizer
+ sampling settings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54115" y="3310128"/>
            <a:ext cx="283464" cy="329184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5867" y="2560320"/>
            <a:ext cx="2468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5867" y="2560320"/>
            <a:ext cx="2468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5867" y="2606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747" y="3154680"/>
            <a:ext cx="21031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01828"/>
                </a:solidFill>
                <a:latin typeface="Calibri"/>
              </a:rPr>
              <a:t>One-by-one
probabilistic
generation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43035" y="3310128"/>
            <a:ext cx="283464" cy="329184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4787" y="2560320"/>
            <a:ext cx="2468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4787" y="2560320"/>
            <a:ext cx="2468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4787" y="2606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7667" y="3154680"/>
            <a:ext cx="21031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01828"/>
                </a:solidFill>
                <a:latin typeface="Calibri"/>
              </a:rPr>
              <a:t>Text, code,
structured data,
or tool 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Implications for how you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49240"/>
            <a:ext cx="1106424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Everything in the context shapes output: ordering, examples, formatting, and stray instructions all matter.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Models do not know what they do not see. Provide facts; do not assume the model has them.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Sampling settings change behavior. Pin them when you measure prompt changes.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Long contexts dilute attention. Keep prompts focused; trim what you don't need.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ANATOMY &amp;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Anatomy of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6B83"/>
                </a:solidFill>
                <a:latin typeface="Calibri"/>
              </a:rPr>
              <a:t>A prompt typically contains four elements. You don't always need all four.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3520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0428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Instruction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The task: 'classify', 'summarize', 'extract', 'translate'.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94560"/>
            <a:ext cx="3520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30428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Background, persona, constraints, retrieved docs.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39"/>
            <a:ext cx="3520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30167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Input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59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The specific input the model should act 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520439"/>
            <a:ext cx="3520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630167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Output indicator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023359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The expected format, schema, or example shape.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194560"/>
            <a:ext cx="3657600" cy="4023360"/>
          </a:xfrm>
          <a:prstGeom prst="rect">
            <a:avLst/>
          </a:prstGeom>
          <a:solidFill>
            <a:srgbClr val="0E1B2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39" y="228600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### Instruction ###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Classify the sentiment of the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review as positive, neutral,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or negative.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### Context ###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You are a support analyst.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Be concise.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### Input ###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Review: "Shipping took forever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but the product is excellent."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### Output ###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Sentiment: &lt;one word&gt;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Reason: &lt;one sentence&gt;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ANATOMY &amp;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LLM settings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611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6479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Controls randomness.
Lower = deterministic.
Higher = creative.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0.0 - 0.3 for extraction
0.7+ for ideation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3611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76479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Top-p (nucleus)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86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Caps the probability mass
sampled from. Use one of
temperature OR top-p.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832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0.9 is a common default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91640"/>
            <a:ext cx="3611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76479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Max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86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Hard limit on output length.
Protects cost and latency.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832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Right-size per task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69080"/>
            <a:ext cx="3611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4223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Stop sequences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32918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Force generation to halt at
specific markers.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Useful for structured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06908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069080"/>
            <a:ext cx="3611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14223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System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663440"/>
            <a:ext cx="32918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Persistent instructions and
persona for the conversation.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7607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Set once, reuse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06908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4069080"/>
            <a:ext cx="3611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14223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Seed (when supported)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663440"/>
            <a:ext cx="32918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Reproducible sampling for
testing and evaluation.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7607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Pin during prompt iteration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General tips for designing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73152" cy="1417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Start simple, iterate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5120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Begin with a minimal prompt. Add elements only when they fix a real failure mode.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9164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91640"/>
            <a:ext cx="73152" cy="1417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Be specific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120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State the task, audience, format, and constraints. Vague prompts produce vague outputs.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461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46120"/>
            <a:ext cx="73152" cy="1417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8328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Show, don't only tell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5120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Examples beat adjectives. A few well-chosen demonstrations anchor format and style.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2461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246120"/>
            <a:ext cx="73152" cy="1417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38328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Say what to do, not what to avoid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40480"/>
            <a:ext cx="5120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'Recommend from the top trending list' beats 'don't ask for preferences'.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00600"/>
            <a:ext cx="73152" cy="1417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3776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Use clear separators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5120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Delimit sections with markers like ###, XML tags, or fenced blocks.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80060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800600"/>
            <a:ext cx="73152" cy="1417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93776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Decompose hard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94960"/>
            <a:ext cx="5120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Split big jobs into smaller prompts you can test and chain together.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CORE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Zero-shot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Calibri"/>
              </a:rPr>
              <a:t>Ask the model to perform a task with no examples. Works well when the task is common and the instruction is precise.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Best for: classification, summarization, simple extraction, translation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Pros: Fast, cheap, no example curation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Cons: Brittle for unusual formats or domain-specific style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Tip: Lead with a strong verb and a clear output schema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31720"/>
            <a:ext cx="5212080" cy="2286000"/>
          </a:xfrm>
          <a:prstGeom prst="rect">
            <a:avLst/>
          </a:prstGeom>
          <a:solidFill>
            <a:srgbClr val="0E1B2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Classify the text into neutral,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negative, or positive.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Text: I think the vacation is okay.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Sentiment: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EC4B6"/>
                </a:solidFill>
                <a:latin typeface="Calibri"/>
              </a:rPr>
              <a:t>When zero-shot fails, the next move is usually few-shot.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CORE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Few-shot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Calibri"/>
              </a:rPr>
              <a:t>Show the model a few input/output pairs so it can pattern-match the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Use 2-5 examples that cover the variation you expect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Match the format you want exactly. The model copies what it sees.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Diversity &gt; quantity. Avoid near-duplicates.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Order matters. Recent examples tend to weigh more.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Watch out: bad examples teach bad behavior.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31720"/>
            <a:ext cx="5212080" cy="3291840"/>
          </a:xfrm>
          <a:prstGeom prst="rect">
            <a:avLst/>
          </a:prstGeom>
          <a:solidFill>
            <a:srgbClr val="0E1B2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Classify sentiment.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Text: The food was great.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Sentiment: positive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Text: Service was slow but ok.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Sentiment: neutral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Text: I will not return.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Sentiment: negative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Text: Loved every minute.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Sentiment: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CORE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Chain-of-thought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Calibri"/>
              </a:rPr>
              <a:t>Encourage the model to reason step by step before answering. Improves accuracy on math, logic, and multi-hop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Zero-shot CoT: append "Let's think step by step."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Few-shot CoT: include worked examples that show the reasoning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For reasoning models, keep prompts simpler — they already think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Trade-off: more tokens, higher latency, higher cost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Pair with self-consistency for best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31720"/>
            <a:ext cx="5212080" cy="3291840"/>
          </a:xfrm>
          <a:prstGeom prst="rect">
            <a:avLst/>
          </a:prstGeom>
          <a:solidFill>
            <a:srgbClr val="0E1B2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Q: Roger has 5 tennis balls. He buys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2 cans, each with 3 balls. How many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balls does he have now?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A: Let's think step by step.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Roger starts with 5.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2 cans x 3 balls = 6.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5 + 6 = 11.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Answer: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CORE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Self-consistency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Calibri"/>
              </a:rPr>
              <a:t>Sample multiple reasoning paths at higher temperature, then take a majority vote on the final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Prompt +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828800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94767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Calibri"/>
              </a:rPr>
              <a:t>Path 1 → 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606040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72491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Calibri"/>
              </a:rPr>
              <a:t>Path 2 → 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383280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350215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Calibri"/>
              </a:rPr>
              <a:t>Path 3 → 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4160520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27939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Calibri"/>
              </a:rPr>
              <a:t>Path 4 → 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651760"/>
            <a:ext cx="3291840" cy="9144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88036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Majority vote →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Robust against reasoning slips on hard problems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Cost scales linearly with sample count — typically 5-20 samples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Works best when the final answer is short and verifiable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Pair with CoT to generate diverse reasoning traces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ADVANCED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Generate knowledge &amp; prompt chaining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48640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Generate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01828"/>
                </a:solidFill>
                <a:latin typeface="Calibri"/>
              </a:rPr>
              <a:t>Ask the model to first produce relevant facts, then answer using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1206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Step 1: 'List 3 facts about X.'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Step 2: 'Using those facts, answer Y.'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Reduces shallow guessing on knowledge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Works even better when facts come from retrieval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19072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Prompt Chaining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01828"/>
                </a:solidFill>
                <a:latin typeface="Calibri"/>
              </a:rPr>
              <a:t>Break a hard task into a sequence of small, focused prompts.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51206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Each step has a clear input and output contract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Easier to test, debug, and swap models per step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Common pattern: extract → transform → format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Keeps any single context small and on-task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ADVANCED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Tree of Thoughts (ToT)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Calibri"/>
              </a:rPr>
              <a:t>Explore multiple intermediate steps as a tree, evaluate each branch, and search for the best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651760"/>
            <a:ext cx="14630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651760"/>
            <a:ext cx="1463040" cy="7315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7889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Problem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14630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657600"/>
            <a:ext cx="1463040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Approach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657600"/>
            <a:ext cx="14630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657600"/>
            <a:ext cx="1463040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7947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Approach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657600"/>
            <a:ext cx="14630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3657600"/>
            <a:ext cx="1463040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7947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Approach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754880"/>
            <a:ext cx="14630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754880"/>
            <a:ext cx="1463040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8920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Step B.1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754880"/>
            <a:ext cx="14630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4754880"/>
            <a:ext cx="1463040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8920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Step B.2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760720"/>
            <a:ext cx="14630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5760720"/>
            <a:ext cx="1463040" cy="7315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589788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Solution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645920.0" y="3154680"/>
            <a:ext cx="2286000.0" cy="502920"/>
          </a:xfrm>
          <a:prstGeom prst="line">
            <a:avLst/>
          </a:prstGeom>
          <a:ln w="15875">
            <a:solidFill>
              <a:srgbClr val="55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31920.0" y="3154680"/>
            <a:ext cx="0.0" cy="502920"/>
          </a:xfrm>
          <a:prstGeom prst="line">
            <a:avLst/>
          </a:prstGeom>
          <a:ln w="15875">
            <a:solidFill>
              <a:srgbClr val="55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31920.0" y="3154680"/>
            <a:ext cx="2286000.0" cy="502920"/>
          </a:xfrm>
          <a:prstGeom prst="line">
            <a:avLst/>
          </a:prstGeom>
          <a:ln w="15875">
            <a:solidFill>
              <a:srgbClr val="55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017520.0" y="4160520"/>
            <a:ext cx="914400.0" cy="594360"/>
          </a:xfrm>
          <a:prstGeom prst="line">
            <a:avLst/>
          </a:prstGeom>
          <a:ln w="15875">
            <a:solidFill>
              <a:srgbClr val="55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931920.0" y="4160520"/>
            <a:ext cx="1005840.0" cy="594360"/>
          </a:xfrm>
          <a:prstGeom prst="line">
            <a:avLst/>
          </a:prstGeom>
          <a:ln w="15875">
            <a:solidFill>
              <a:srgbClr val="55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937760.0" y="5257800"/>
            <a:ext cx="0.0" cy="502920"/>
          </a:xfrm>
          <a:prstGeom prst="line">
            <a:avLst/>
          </a:prstGeom>
          <a:ln w="15875">
            <a:solidFill>
              <a:srgbClr val="55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15200" y="2651760"/>
            <a:ext cx="429768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Models propose multiple thoughts per step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Each branch is scored or self-evaluated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Search (BFS/DFS) finds the most promising path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Useful for planning, puzzles, and creative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More expensive than CoT — use when accuracy matters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ADVANCED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ReAct: reason + 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Calibri"/>
              </a:rPr>
              <a:t>Interleave reasoning steps with tool calls so the model can fetch external information and act on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2103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103120" cy="3200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0545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Thought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Plan next step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0048" y="2834640"/>
            <a:ext cx="237744" cy="274320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2468880"/>
            <a:ext cx="2103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0" y="2468880"/>
            <a:ext cx="2103120" cy="3200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50545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2608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Call a tool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47488" y="2834640"/>
            <a:ext cx="237744" cy="274320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0" y="2468880"/>
            <a:ext cx="2103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2468880"/>
            <a:ext cx="21031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50545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Observation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92608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Read tool output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548640" y="3657600"/>
            <a:ext cx="6583680" cy="320040"/>
          </a:xfrm>
          <a:prstGeom prst="leftArrow">
            <a:avLst/>
          </a:prstGeom>
          <a:solidFill>
            <a:srgbClr val="55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6583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repeat until done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468880"/>
            <a:ext cx="3840480" cy="3291840"/>
          </a:xfrm>
          <a:prstGeom prst="rect">
            <a:avLst/>
          </a:prstGeom>
          <a:solidFill>
            <a:srgbClr val="0E1B2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256032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Thought: I need today's weather.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Action: search("Seattle weather")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Observation: 58°F, light rain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Thought: I have what I need.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Final: Rain expected; bring a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6EDF3"/>
                </a:solidFill>
                <a:latin typeface="Consolas"/>
              </a:rPr>
              <a:t>jacket.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97680"/>
            <a:ext cx="68580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Foundation pattern for AI agents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Pair with function calling for typed tool I/O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Cap loop iterations to control cost and runaway behavior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Log every step — observability is non-negotiable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ADVANCED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Retrieval Augmented Generation (RAG)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Calibri"/>
              </a:rPr>
              <a:t>Inject fresh, domain-specific context into the prompt at query time. Reduces hallucinations on private or recent information.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606040" cy="4114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User query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63824" y="3108960"/>
            <a:ext cx="164592" cy="274320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46888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468880"/>
            <a:ext cx="2606040" cy="4114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51460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Vector or keyword
search over your
knowledge base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52744" y="3108960"/>
            <a:ext cx="164592" cy="274320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46888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468880"/>
            <a:ext cx="2606040" cy="4114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51460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9718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Concatenate top
passages into the
prompt context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41664" y="3108960"/>
            <a:ext cx="164592" cy="274320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246888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2468880"/>
            <a:ext cx="2606040" cy="4114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251460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9718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Calibri"/>
              </a:rPr>
              <a:t>Model answers
grounded in the
provided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110642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Best for: documentation Q&amp;A, internal knowledge, fresh data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Always cite sources — "Answer using only the context. Cite the source ID."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Quality of retrieval &gt;&gt; cleverness of the prompt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Watch context length: rerank and truncate aggressively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Evaluate end-to-end: answer accuracy, faithfulness, citation correctness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ADVANCED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Context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101828"/>
                </a:solidFill>
                <a:latin typeface="Calibri"/>
              </a:rPr>
              <a:t>Treat the context window as a designed system: every token should earn its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73152" cy="35661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What goes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461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System prompt with role, rules, format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Recent conversation, summarized older turns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Tool definitions and schemas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Retrieved documents with IDs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Few-shot examples when needed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Current user input last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468880"/>
            <a:ext cx="73152" cy="35661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6060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063240"/>
            <a:ext cx="32461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Short, ordered, deduplicated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Trim before you grow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Pin format with delimiters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Prefer instructions over hints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Keep a stable structure across calls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Budget tokens per section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46888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468880"/>
            <a:ext cx="73152" cy="35661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6060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Failure modes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063240"/>
            <a:ext cx="32461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Lost-in-the-middle attention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Conflicting instructions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Stale conversation history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Leaking irrelevant retrieval hits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Overstuffed system prompt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9F1C"/>
                </a:solidFill>
                <a:latin typeface="Calibri"/>
              </a:rPr>
              <a:t>•  </a:t>
            </a:r>
            <a:r>
              <a:rPr sz="1200">
                <a:solidFill>
                  <a:srgbClr val="101828"/>
                </a:solidFill>
                <a:latin typeface="Calibri"/>
              </a:rPr>
              <a:t>Implicit assumptions never stated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PATTERNS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Common pitfalls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920240"/>
            <a:ext cx="256032" cy="256032"/>
          </a:xfrm>
          <a:prstGeom prst="ellipse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2880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Vague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8600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"Make it better" → no measurable target. Specify what better means.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9164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920240"/>
            <a:ext cx="256032" cy="256032"/>
          </a:xfrm>
          <a:prstGeom prst="ellipse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82880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Negative-only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28600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Telling the model what not to do without giving a fallback.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461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474720"/>
            <a:ext cx="256032" cy="256032"/>
          </a:xfrm>
          <a:prstGeom prst="ellipse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38328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Overstuffed 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4048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Long, contradictory context dilutes attention and increases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2461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0" y="3474720"/>
            <a:ext cx="256032" cy="256032"/>
          </a:xfrm>
          <a:prstGeom prst="ellipse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8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Mixing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84048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System persona conflicts with task instructions or examples.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5029200"/>
            <a:ext cx="256032" cy="256032"/>
          </a:xfrm>
          <a:prstGeom prst="ellipse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93776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Untested edge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39496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Empty input, hostile input, multilingual input, very long input.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80060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5029200"/>
            <a:ext cx="256032" cy="256032"/>
          </a:xfrm>
          <a:prstGeom prst="ellipse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93776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No format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39496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Free-form output breaks downstream parsers. Pin a schema.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RISKS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Risks to design against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611880" cy="411480"/>
          </a:xfrm>
          <a:prstGeom prst="rect">
            <a:avLst/>
          </a:prstGeom>
          <a:solidFill>
            <a:srgbClr val="E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Hallucination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The model invents facts that sound 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3291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→ Ground in retrieval. Require citations. Ask for 'I don't know.'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3611880" cy="411480"/>
          </a:xfrm>
          <a:prstGeom prst="rect">
            <a:avLst/>
          </a:prstGeom>
          <a:solidFill>
            <a:srgbClr val="E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737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94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Outputs reflect training-data skew on sensitive topics.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26080"/>
            <a:ext cx="3291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→ Audit on representative data. Constrain scope. Add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91640"/>
            <a:ext cx="3611880" cy="411480"/>
          </a:xfrm>
          <a:prstGeom prst="rect">
            <a:avLst/>
          </a:prstGeom>
          <a:solidFill>
            <a:srgbClr val="E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737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Prompt 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94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Untrusted text in the context overrides your instructions.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26080"/>
            <a:ext cx="3291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→ Treat all inputs as untrusted. Separate trust zones in the prompt.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69080"/>
            <a:ext cx="3611880" cy="411480"/>
          </a:xfrm>
          <a:prstGeom prst="rect">
            <a:avLst/>
          </a:prstGeom>
          <a:solidFill>
            <a:srgbClr val="E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Prompt leaking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Model reveals your system prompt or proprietary instructions.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3291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→ Don't put secrets in prompts. Add policy + monitoring.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06908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069080"/>
            <a:ext cx="3611880" cy="411480"/>
          </a:xfrm>
          <a:prstGeom prst="rect">
            <a:avLst/>
          </a:prstGeom>
          <a:solidFill>
            <a:srgbClr val="E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114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Jailbreaking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57200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Crafted inputs bypass safety guardrails.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303520"/>
            <a:ext cx="3291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→ Layered defenses: model, prompt, application, post-filter.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06908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4069080"/>
            <a:ext cx="3611880" cy="411480"/>
          </a:xfrm>
          <a:prstGeom prst="rect">
            <a:avLst/>
          </a:prstGeom>
          <a:solidFill>
            <a:srgbClr val="E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114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 leakage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57200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PII or confidential content escapes via outputs or logs.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303520"/>
            <a:ext cx="3291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→ Redact at ingest. Minimize retention. Encrypt and access-control.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RISKS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Defense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920240"/>
            <a:ext cx="256032" cy="25603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2880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Trust zones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8600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Mark which parts of the context are user-controlled vs. system-controlled. Never let user text be parsed as instructions.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9164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920240"/>
            <a:ext cx="256032" cy="25603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82880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Input/output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28600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Validate inputs against a schema. Validate outputs against a parser. Reject or repair on failure.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461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474720"/>
            <a:ext cx="256032" cy="25603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38328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Allowlists &amp; schemas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4048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Constrain answers to known values, JSON shapes, or function signatures via tool-use APIs.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2461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0" y="3474720"/>
            <a:ext cx="256032" cy="25603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8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Defense in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84048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Combine model-side guardrails with application-level checks and post-processing review.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5029200"/>
            <a:ext cx="256032" cy="25603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93776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Red-team continuously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39496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Maintain an evolving suite of injection and jailbreak tests. Replay them on every prompt change.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80060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5029200"/>
            <a:ext cx="256032" cy="25603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93776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Human in the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394960"/>
            <a:ext cx="4754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Require approval for high-impact actions. Confidence-based routing for ambiguous cases.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WORKFLOW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An iterative prompt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7830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65376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16002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Calibri"/>
              </a:rPr>
              <a:t>Goal, inputs, outputs,
success metric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36292" y="2395728"/>
            <a:ext cx="109728" cy="237744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50592" y="182880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0592" y="1828800"/>
            <a:ext cx="17830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1865376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286000"/>
            <a:ext cx="16002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Calibri"/>
              </a:rPr>
              <a:t>Minimal prompt; pin
settings; no examples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38244" y="2395728"/>
            <a:ext cx="109728" cy="237744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52544" y="182880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2544" y="1828800"/>
            <a:ext cx="17830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1865376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286000"/>
            <a:ext cx="16002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Calibri"/>
              </a:rPr>
              <a:t>Run on a small,
representative set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140196" y="2395728"/>
            <a:ext cx="109728" cy="237744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182880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1828800"/>
            <a:ext cx="17830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1865376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286000"/>
            <a:ext cx="16002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Calibri"/>
              </a:rPr>
              <a:t>Cluster failures. What
kind of error is it?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042148" y="2395728"/>
            <a:ext cx="109728" cy="237744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56448" y="182880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1828800"/>
            <a:ext cx="17830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1865376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2286000"/>
            <a:ext cx="16002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Calibri"/>
              </a:rPr>
              <a:t>Add the smallest fix:
instruction, example, tool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944100" y="2395728"/>
            <a:ext cx="109728" cy="237744"/>
          </a:xfrm>
          <a:prstGeom prst="rightArrow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0" y="182880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58400" y="1828800"/>
            <a:ext cx="17830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1865376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286000"/>
            <a:ext cx="16002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Calibri"/>
              </a:rPr>
              <a:t>Versioned prompt,
eval suite, rollback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Evaluation is the discipline that turns prompting into engineering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069080"/>
            <a:ext cx="110642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Build a small golden set early — 20-50 examples beat zero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Track: accuracy, format compliance, latency, cost, refusal rate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Use LLM-as-judge for subjective metrics, but validate the judge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Treat prompts like code: review, version, and test on every change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9F1C"/>
                </a:solidFill>
                <a:latin typeface="Calibri"/>
              </a:rPr>
              <a:t>•  </a:t>
            </a:r>
            <a:r>
              <a:rPr sz="1300">
                <a:solidFill>
                  <a:srgbClr val="101828"/>
                </a:solidFill>
                <a:latin typeface="Calibri"/>
              </a:rPr>
              <a:t>Roll out behind feature flags; compare against the previous version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One-page cheat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Calibri"/>
              </a:rPr>
              <a:t>Do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Lead with a strong verb: classify, extract, summarize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State the audience and the format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Show 2-5 diverse examples when format matters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Say what to do, not what to avoid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Use delimiters: ###, XML tags, fenced blocks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Decompose hard tasks into chained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9F1C"/>
                </a:solidFill>
                <a:latin typeface="Calibri"/>
              </a:rPr>
              <a:t>And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Pin temperature/top-p when measuring changes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Add 'Let's think step by step.' for reasoning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Ground knowledge tasks with retrieval + citations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Treat all input text as untrusted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Validate output against a schema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9F1C"/>
                </a:solidFill>
                <a:latin typeface="Calibri"/>
              </a:rPr>
              <a:t>•  </a:t>
            </a:r>
            <a:r>
              <a:rPr sz="1400">
                <a:solidFill>
                  <a:srgbClr val="101828"/>
                </a:solidFill>
                <a:latin typeface="Calibri"/>
              </a:rPr>
              <a:t>Version prompts, run an eval suite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Calibri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Resources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457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B83"/>
                </a:solidFill>
                <a:latin typeface="Calibri"/>
              </a:rPr>
              <a:t>Prompt Engineering Workshop  ·  60-minute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379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B83"/>
                </a:solidFill>
                <a:latin typeface="Calibri"/>
              </a:rPr>
              <a:t>Slide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73152" cy="20116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Prompt Engineering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promptingguide.ai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5120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Comprehensive reference: techniques, models, papers, prompt hub.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9164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91640"/>
            <a:ext cx="73152" cy="20116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OpenAI / Anthropic / AWS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Provider best-practice guides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120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Model-specific patterns, system prompt advice, tool-use examples.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862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73152" cy="20116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Hands-on workshop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This repo: Streamlit + Bedrock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5120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Foundations, zero/few-shot, CoT, advanced, agentic, safety, RAG.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8862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886200"/>
            <a:ext cx="73152" cy="20116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02336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Papers worth reading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CoT, Self-Consistency, ReAct, ToT, 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46320"/>
            <a:ext cx="5120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Calibri"/>
              </a:rPr>
              <a:t>Original sources for the techniques covered in this session.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Let's discuss the patterns that fit your use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9F1C"/>
                </a:solidFill>
                <a:latin typeface="Calibri"/>
              </a:rPr>
              <a:t>Thanks for joining the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Reference: promptingguide.ai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